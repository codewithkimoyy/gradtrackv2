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D4A8"/>
                </a:solidFill>
                <a:latin typeface="Segoe UI"/>
              </a:rPr>
              <a:t>BOHOL ISLAND STATE UNIVERSITY  •  BILAR 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Segoe UI"/>
              </a:rPr>
              <a:t>GradTrack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7CF6"/>
                </a:solidFill>
                <a:latin typeface="Segoe UI"/>
              </a:rPr>
              <a:t>Graduate Tracking &amp; Alumni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C7D4E8"/>
                </a:solidFill>
                <a:latin typeface="Segoe UI"/>
              </a:rPr>
              <a:t>Part I  •  Why we built it &amp; the problem it solves</a:t>
            </a:r>
            <a:br/>
            <a:r>
              <a:rPr sz="1700" b="0" i="0">
                <a:solidFill>
                  <a:srgbClr val="C7D4E8"/>
                </a:solidFill>
                <a:latin typeface="Segoe UI"/>
              </a:rPr>
              <a:t>Part II  •  System Walkthrough &amp;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7CF6"/>
                </a:solidFill>
                <a:latin typeface="Segoe UI"/>
              </a:rPr>
              <a:t>PART I • THE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14400"/>
            <a:ext cx="457200" cy="54864"/>
          </a:xfrm>
          <a:prstGeom prst="rect">
            <a:avLst/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Graduate tracking is a university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>
                <a:solidFill>
                  <a:srgbClr val="2ED4A8"/>
                </a:solidFill>
                <a:latin typeface="Segoe UI"/>
              </a:rPr>
              <a:t>•  Every Higher Education Institution must trace what its graduates do after graduation — employment, further studies, business, or volunteering.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2ED4A8"/>
                </a:solidFill>
                <a:latin typeface="Segoe UI"/>
              </a:rPr>
              <a:t>•  Results feed CHED reporting, program accreditation (AACCUP-style reviews), and curriculum planning.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2ED4A8"/>
                </a:solidFill>
                <a:latin typeface="Segoe UI"/>
              </a:rPr>
              <a:t>•  BISU Bilar Campus graduates several cohorts every year across its programs.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2ED4A8"/>
                </a:solidFill>
                <a:latin typeface="Segoe UI"/>
              </a:rPr>
              <a:t>•  Each cohort’s outcomes must be collected, verified, and reported year after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39496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Tracer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53949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E7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Accreditation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539496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63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Curriculum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7CF6"/>
                </a:solidFill>
                <a:latin typeface="Segoe UI"/>
              </a:rPr>
              <a:t>PART I •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14400"/>
            <a:ext cx="457200" cy="54864"/>
          </a:xfrm>
          <a:prstGeom prst="rect">
            <a:avLst/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Today the process is manual, slow, and incomplete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Paper forms and spreadsheets are still the norm — no single, trusted source of alumni records.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Contact details go stale fast — low response rates shrink an already-hard-to-reach sample.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Filling in a profile and answering the tracer survey happens once, at the office, with loose follow-up.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Reports take months to compile — by the time they are done, the data is already dated.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The alumni office loses contact the moment a graduate leaves campus.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7CF6"/>
                </a:solidFill>
                <a:latin typeface="Segoe UI"/>
              </a:rPr>
              <a:t>PART I • 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14400"/>
            <a:ext cx="457200" cy="54864"/>
          </a:xfrm>
          <a:prstGeom prst="rect">
            <a:avLst/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The cost of weak alumni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>
                <a:solidFill>
                  <a:srgbClr val="2ED4A8"/>
                </a:solidFill>
                <a:latin typeface="Segoe UI"/>
              </a:rPr>
              <a:t>•  Accreditation and CHED reporting rely on verified graduate outcomes.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2ED4A8"/>
                </a:solidFill>
                <a:latin typeface="Segoe UI"/>
              </a:rPr>
              <a:t>•  Unreliable data hides how effective our programs actually are in producing employed graduates.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2ED4A8"/>
                </a:solidFill>
                <a:latin typeface="Segoe UI"/>
              </a:rPr>
              <a:t>•  Staff burn hours on data entry and chasing responses instead of supporting alumni.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2ED4A8"/>
                </a:solidFill>
                <a:latin typeface="Segoe UI"/>
              </a:rPr>
              <a:t>•  Students lose a career and networking link to their own institution.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512064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1">
                <a:solidFill>
                  <a:srgbClr val="F6BF40"/>
                </a:solidFill>
                <a:latin typeface="Segoe UI"/>
              </a:rPr>
              <a:t>“We needed a system, not a spreadsheet.”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7CF6"/>
                </a:solidFill>
                <a:latin typeface="Segoe UI"/>
              </a:rPr>
              <a:t>PART I • WHY WE BUILT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14400"/>
            <a:ext cx="457200" cy="54864"/>
          </a:xfrm>
          <a:prstGeom prst="rect">
            <a:avLst/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GradTrack replaces the busywork with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Meet alumni where they are — a proper app/web platform they will actually use.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Capture the tracer questionnaire digitally and keep it up to date in real time.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Give the alumni office one dashboard: approvals, profiles, employment records, analytics.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Keep graduates connected with jobs, events, announcements, and notifications.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Produce current, verifiable reports for accreditation whenever they are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7CF6"/>
                </a:solidFill>
                <a:latin typeface="Segoe UI"/>
              </a:rPr>
              <a:t>PART I •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14400"/>
            <a:ext cx="457200" cy="54864"/>
          </a:xfrm>
          <a:prstGeom prst="rect">
            <a:avLst/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Two doors, one shared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ED4A8"/>
                </a:solidFill>
                <a:latin typeface="Segoe UI"/>
              </a:rPr>
              <a:t>Alumni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ED4A8"/>
                </a:solidFill>
                <a:latin typeface="Segoe UI"/>
              </a:rPr>
              <a:t>•  Profile &amp; tracer questionnaire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ED4A8"/>
                </a:solidFill>
                <a:latin typeface="Segoe UI"/>
              </a:rPr>
              <a:t>•  Employment records &amp; career milestones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ED4A8"/>
                </a:solidFill>
                <a:latin typeface="Segoe UI"/>
              </a:rPr>
              <a:t>•  Certificates, skills, and resume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ED4A8"/>
                </a:solidFill>
                <a:latin typeface="Segoe UI"/>
              </a:rPr>
              <a:t>•  Jobs board — alumni can post jobs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ED4A8"/>
                </a:solidFill>
                <a:latin typeface="Segoe UI"/>
              </a:rPr>
              <a:t>•  Events, announcements,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E7CF6"/>
                </a:solidFill>
                <a:latin typeface="Segoe UI"/>
              </a:rPr>
              <a:t>Admin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8892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E7CF6"/>
                </a:solidFill>
                <a:latin typeface="Segoe UI"/>
              </a:rPr>
              <a:t>•  Verify &amp; approve alumni accounts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E7CF6"/>
                </a:solidFill>
                <a:latin typeface="Segoe UI"/>
              </a:rPr>
              <a:t>•  Alumni directory — approved, searchable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E7CF6"/>
                </a:solidFill>
                <a:latin typeface="Segoe UI"/>
              </a:rPr>
              <a:t>•  Dashboard metrics &amp; verification rates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E7CF6"/>
                </a:solidFill>
                <a:latin typeface="Segoe UI"/>
              </a:rPr>
              <a:t>•  Reports, audit logs, user management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E7CF6"/>
                </a:solidFill>
                <a:latin typeface="Segoe UI"/>
              </a:rPr>
              <a:t>•  Role-based access enforced in Firestore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7CF6"/>
                </a:solidFill>
                <a:latin typeface="Segoe UI"/>
              </a:rPr>
              <a:t>PART I • UNDER THE HOOD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14400"/>
            <a:ext cx="457200" cy="54864"/>
          </a:xfrm>
          <a:prstGeom prst="rect">
            <a:avLst/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Built to deploy and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Flutter frontend — one codebase for Android, Web, and Windows.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Firebase — Authentication, Firestore database, and Cloud Storage.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Node.js/Express API for authenticated backend services.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Security rules enforce roles: admin vs. alumni, verified vs. pending.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Audit logging and analytics built in for the alumni office.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6B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6BF40"/>
                </a:solidFill>
                <a:latin typeface="Segoe UI"/>
              </a:rPr>
              <a:t>PART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7D4E8"/>
                </a:solidFill>
                <a:latin typeface="Segoe UI"/>
              </a:rPr>
              <a:t>A 5-minute walkthrough of the alumni and admin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7CF6"/>
                </a:solidFill>
                <a:latin typeface="Segoe UI"/>
              </a:rPr>
              <a:t>PART II • DEMO 1 /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14400"/>
            <a:ext cx="457200" cy="54864"/>
          </a:xfrm>
          <a:prstGeom prst="rect">
            <a:avLst/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Alumni onboarding &amp;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Sign in with email or Google (Flutter web on localhost:3000).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First login creates the profile as a pending alumni account.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App holds at the “Pending Approval” screen with status feedback.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Admin approves the account — the alumnus is notified and the dashboard opens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3949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6B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On screen: run the web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7CF6"/>
                </a:solidFill>
                <a:latin typeface="Segoe UI"/>
              </a:rPr>
              <a:t>PART II • DEMO 2 /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14400"/>
            <a:ext cx="457200" cy="54864"/>
          </a:xfrm>
          <a:prstGeom prst="rect">
            <a:avLst/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The alumni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Complete the profile: program, batch/year, employment status.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Add an employment record — company, position, and dates feed the tracer analytics.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Answer the tracer questionnaire inside the app.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Show the profile with employment history, certificates, and skills.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7CF6"/>
                </a:solidFill>
                <a:latin typeface="Segoe UI"/>
              </a:rPr>
              <a:t>PART II • DEMO 3 /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14400"/>
            <a:ext cx="457200" cy="54864"/>
          </a:xfrm>
          <a:prstGeom prst="rect">
            <a:avLst/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Community &amp;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Browse the jobs board and read a posting.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Post a new job as an alumnus — approved users can contribute listings.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Check events and announcements from the alumni office.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In-app notifications keep graduates in the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7CF6"/>
                </a:solidFill>
                <a:latin typeface="Segoe UI"/>
              </a:rPr>
              <a:t>PART II • DEMO 4 /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914400"/>
            <a:ext cx="457200" cy="54864"/>
          </a:xfrm>
          <a:prstGeom prst="rect">
            <a:avLst/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The admin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Approve a pending alumni account from the dashboard.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Open Alumni — the directory lists approved alumni who have logged in (names &amp; contact).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Show dashboard metrics: users, verification, and employment analytics.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D4A8"/>
                </a:solidFill>
                <a:latin typeface="Segoe UI"/>
              </a:rPr>
              <a:t>•  Browse the user directory, edit roles, and check the audit trail.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GradTrack turns a chore into a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2ED4A8"/>
                </a:solidFill>
                <a:latin typeface="Segoe UI"/>
              </a:rPr>
              <a:t>•  Faster, higher-response tracer studies for accreditation.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ED4A8"/>
                </a:solidFill>
                <a:latin typeface="Segoe UI"/>
              </a:rPr>
              <a:t>•  A lasting, connected relationship with every graduate.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ED4A8"/>
                </a:solidFill>
                <a:latin typeface="Segoe UI"/>
              </a:rPr>
              <a:t>•  One verified source of truth for the alumni office.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6BF40"/>
                </a:solidFill>
                <a:latin typeface="Segoe UI"/>
              </a:rPr>
              <a:t>Thank you — we welcome your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GradTrack  •  BISU Bilar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4E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